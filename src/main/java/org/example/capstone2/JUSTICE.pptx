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Raleway" pitchFamily="2" charset="77"/>
      <p:regular r:id="rId13"/>
    </p:embeddedFont>
    <p:embeddedFont>
      <p:font typeface="Roboto" panose="02000000000000000000" pitchFamily="2" charset="0"/>
      <p:regular r:id="rId14"/>
      <p:italic r:id="rId15"/>
    </p:embeddedFont>
    <p:embeddedFont>
      <p:font typeface="Roboto Bold" panose="02000000000000000000" pitchFamily="2" charset="0"/>
      <p:regular r:id="rId16"/>
      <p:bold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5799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S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18211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JUSTICE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056235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Legal Consultation Platform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Connecting clients with suitable lawyers through a simple digital consultation process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4388743"/>
            <a:ext cx="1116977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" name="Text 4"/>
          <p:cNvSpPr/>
          <p:nvPr/>
        </p:nvSpPr>
        <p:spPr>
          <a:xfrm>
            <a:off x="5346765" y="4445397"/>
            <a:ext cx="149975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CAPSTONE 2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44791" y="4388743"/>
            <a:ext cx="590039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9" name="Text 6"/>
          <p:cNvSpPr/>
          <p:nvPr/>
        </p:nvSpPr>
        <p:spPr>
          <a:xfrm>
            <a:off x="6558195" y="4445397"/>
            <a:ext cx="97281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JAVA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129284" y="4388743"/>
            <a:ext cx="1184543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1" name="Text 8"/>
          <p:cNvSpPr/>
          <p:nvPr/>
        </p:nvSpPr>
        <p:spPr>
          <a:xfrm>
            <a:off x="7242688" y="4445397"/>
            <a:ext cx="156731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SPRING BOOT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408281" y="4388743"/>
            <a:ext cx="855244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3" name="Text 10"/>
          <p:cNvSpPr/>
          <p:nvPr/>
        </p:nvSpPr>
        <p:spPr>
          <a:xfrm>
            <a:off x="8521685" y="4445397"/>
            <a:ext cx="123802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 API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71513"/>
            <a:ext cx="629686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Problem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233360" y="1432719"/>
            <a:ext cx="629686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Finding the right lawyer can be difficult, especially when the client does not know which legal specialty matches their problem.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122091"/>
            <a:ext cx="6296860" cy="9942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98665" y="2311202"/>
            <a:ext cx="58424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Unknown Specialty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5498665" y="2668687"/>
            <a:ext cx="584244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knowing which legal specialty applies to their situation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269456"/>
            <a:ext cx="6296860" cy="99427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98665" y="3458567"/>
            <a:ext cx="58424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Finding a Lawyer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5498665" y="3816052"/>
            <a:ext cx="584244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Locating a suitable lawyer by specialty, city, and consultation price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416822"/>
            <a:ext cx="6296860" cy="99427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98665" y="4605933"/>
            <a:ext cx="58424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Starting Communication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5498665" y="4963418"/>
            <a:ext cx="584244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Initiating contact and managing the consultation process in one place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5488446" y="5755580"/>
            <a:ext cx="665135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Legal Problem → Confusion → Searching → Calls / Visits → Finding a Lawyer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233360" y="5583337"/>
            <a:ext cx="19050" cy="603052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SA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730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Real-World Example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1710432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Scenario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194719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client has a problem related to a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rental agreement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They know they need legal help, but face multiple barriers: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2969617"/>
            <a:ext cx="6903269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Don't know which legal specialty applies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Don't know which lawyers specialize in this area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Want a lawyer in their city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Want to compare consultation prices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Need a simple way to contact the lawyer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633201" y="4958655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5245398"/>
            <a:ext cx="236234" cy="1890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47449" y="5175945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Traditional process:</a:t>
            </a: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Search → Calls → Compare → Visit → Consultation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JUSTICE simplifies this entire journey.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8920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Solution: JUSTICE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406723"/>
            <a:ext cx="11478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JUSTICE provides one platform where clients can search, connect, and manage their legal consultation from start to finish.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1837531"/>
            <a:ext cx="5357778" cy="1632248"/>
          </a:xfrm>
          <a:prstGeom prst="roundRect">
            <a:avLst>
              <a:gd name="adj" fmla="val 437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837881" y="2013942"/>
            <a:ext cx="510269" cy="510282"/>
          </a:xfrm>
          <a:prstGeom prst="ellipse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8173" y="2154238"/>
            <a:ext cx="229586" cy="229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7881" y="2677319"/>
            <a:ext cx="500496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Search &amp; Filter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37881" y="3034804"/>
            <a:ext cx="500496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 lawyers by specialty, city, and consultation price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343" y="1837531"/>
            <a:ext cx="5357877" cy="1632248"/>
          </a:xfrm>
          <a:prstGeom prst="roundRect">
            <a:avLst>
              <a:gd name="adj" fmla="val 437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0" name="Shape 7"/>
          <p:cNvSpPr/>
          <p:nvPr/>
        </p:nvSpPr>
        <p:spPr>
          <a:xfrm>
            <a:off x="6348750" y="2013942"/>
            <a:ext cx="510269" cy="510282"/>
          </a:xfrm>
          <a:prstGeom prst="ellipse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9042" y="2154238"/>
            <a:ext cx="229586" cy="229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48750" y="2677319"/>
            <a:ext cx="500506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Request &amp; Respond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348750" y="3034804"/>
            <a:ext cx="5005064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Send consultation requests and receive accept/reject responses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61475" y="3622873"/>
            <a:ext cx="5357778" cy="1632248"/>
          </a:xfrm>
          <a:prstGeom prst="roundRect">
            <a:avLst>
              <a:gd name="adj" fmla="val 437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5" name="Shape 11"/>
          <p:cNvSpPr/>
          <p:nvPr/>
        </p:nvSpPr>
        <p:spPr>
          <a:xfrm>
            <a:off x="837881" y="3799284"/>
            <a:ext cx="510269" cy="510282"/>
          </a:xfrm>
          <a:prstGeom prst="ellipse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8173" y="3939580"/>
            <a:ext cx="229586" cy="2295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7881" y="4462661"/>
            <a:ext cx="500496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Case Management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37881" y="4820146"/>
            <a:ext cx="500496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 the consultation case and communicate with the lawyer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72343" y="3622873"/>
            <a:ext cx="5357877" cy="1632248"/>
          </a:xfrm>
          <a:prstGeom prst="roundRect">
            <a:avLst>
              <a:gd name="adj" fmla="val 437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0" name="Shape 15"/>
          <p:cNvSpPr/>
          <p:nvPr/>
        </p:nvSpPr>
        <p:spPr>
          <a:xfrm>
            <a:off x="6348750" y="3799284"/>
            <a:ext cx="510269" cy="510282"/>
          </a:xfrm>
          <a:prstGeom prst="ellipse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9042" y="3939580"/>
            <a:ext cx="229586" cy="2295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48750" y="4462661"/>
            <a:ext cx="500506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Review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6348750" y="4820146"/>
            <a:ext cx="5005064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Submit feedback after case completion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16560" y="5599609"/>
            <a:ext cx="1061366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🤖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AI Assistance: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Describe the problem → Gemini AI → Possible Legal Specialty → Search for Lawyers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AI provides a possible specialty suggestion and does not replace professional legal advice.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61475" y="5427365"/>
            <a:ext cx="19050" cy="861616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SA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805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Main System Flow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0252" y="1247180"/>
            <a:ext cx="5951190" cy="47243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53272" y="3343584"/>
            <a:ext cx="1069479" cy="489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Consultation Lifecycle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605361" y="1720168"/>
            <a:ext cx="1591041" cy="24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 discovery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605361" y="2034281"/>
            <a:ext cx="1591041" cy="35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Search or use AI assistant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953400" y="1720168"/>
            <a:ext cx="1591041" cy="24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Admin oversight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953400" y="2034281"/>
            <a:ext cx="1591041" cy="35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 users, lawyers, system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53400" y="4702069"/>
            <a:ext cx="1591041" cy="489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Case management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953400" y="5260734"/>
            <a:ext cx="1591041" cy="35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 case for communication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05361" y="4824345"/>
            <a:ext cx="1591041" cy="24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Lawyer response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05361" y="5138458"/>
            <a:ext cx="1591041" cy="35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Accept or reject request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179228" y="3128243"/>
            <a:ext cx="1625821" cy="489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Selection &amp; request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179228" y="3686908"/>
            <a:ext cx="1625821" cy="35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Pick lawyer and send request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70838" y="3259213"/>
            <a:ext cx="1625821" cy="24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Closure &amp; review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370838" y="3573327"/>
            <a:ext cx="1625821" cy="35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Close case and leave review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61475" y="6107509"/>
            <a:ext cx="114783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complete consultation lifecycle — from discovery to case closure — managed in one platform.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7865"/>
            <a:ext cx="1086874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REST API Endpoints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1475" y="1179909"/>
            <a:ext cx="11478330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Five essential endpoints supporting the main business flow: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05756"/>
            <a:ext cx="6945536" cy="8373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1772" y="1893590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41702" y="1764308"/>
            <a:ext cx="610676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GET /lawyer/search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341702" y="2085280"/>
            <a:ext cx="6106761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 lawyers by specialty, city, and price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546052"/>
            <a:ext cx="6945536" cy="83730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1772" y="2833886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341702" y="2704604"/>
            <a:ext cx="610676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POST /request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341702" y="3025577"/>
            <a:ext cx="6106761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sends a consultation request to a selected lawyer</a:t>
            </a:r>
            <a:endParaRPr lang="en-US" sz="1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486348"/>
            <a:ext cx="6945536" cy="83730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51772" y="3774182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341702" y="3644900"/>
            <a:ext cx="610676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PUT /request/{id}/accept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341702" y="3965873"/>
            <a:ext cx="6106761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Lawyer accepts the user's consultation request</a:t>
            </a:r>
            <a:endParaRPr lang="en-US" sz="10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426645"/>
            <a:ext cx="6945536" cy="83730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51772" y="4714478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341702" y="4585196"/>
            <a:ext cx="610676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POST /case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341702" y="4906169"/>
            <a:ext cx="6106761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Legal case created after request is accepted</a:t>
            </a:r>
            <a:endParaRPr lang="en-US" sz="10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366941"/>
            <a:ext cx="6945536" cy="83730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51772" y="5654774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1341702" y="5525492"/>
            <a:ext cx="610676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PUT /case/{id}/close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1341702" y="5846465"/>
            <a:ext cx="6106761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Closes the consultation case after completion</a:t>
            </a:r>
            <a:endParaRPr lang="en-US" sz="10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1534" y="2181920"/>
            <a:ext cx="2687074" cy="2687141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953672" y="4984948"/>
            <a:ext cx="3582799" cy="643136"/>
          </a:xfrm>
          <a:prstGeom prst="roundRect">
            <a:avLst>
              <a:gd name="adj" fmla="val 9113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3170" y="5140325"/>
            <a:ext cx="174422" cy="13950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8407090" y="5112445"/>
            <a:ext cx="2989882" cy="388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Business Flow:</a:t>
            </a:r>
            <a:endParaRPr lang="en-US" sz="10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Search → Request → Accept → Case → Close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82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External API Integrations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05025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🤖</a:t>
            </a: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Gemini API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589312"/>
            <a:ext cx="7512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AI-assisted specialty identification for users unsure of their legal needs.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104356"/>
            <a:ext cx="6903269" cy="24990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8271" y="4993368"/>
            <a:ext cx="1886871" cy="216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Returns Legal Specialty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68271" y="4240137"/>
            <a:ext cx="1730032" cy="216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JUSTICE Calls Gemini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68271" y="3479221"/>
            <a:ext cx="1934667" cy="216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 Describes Problem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032251" y="1621334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📧</a:t>
            </a: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Gmail API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032251" y="2105620"/>
            <a:ext cx="350421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Handles email communication and notifications throughout the consultation process.</a:t>
            </a:r>
            <a:endParaRPr lang="en-US" sz="14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201" y="3225502"/>
            <a:ext cx="3314319" cy="28616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967429" y="5312824"/>
            <a:ext cx="1207494" cy="465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Gmail Notification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8420844" y="5312824"/>
            <a:ext cx="1207495" cy="465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JUSTICE Backend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1251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Architecture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684" y="1431131"/>
            <a:ext cx="4649374" cy="46494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48502" y="2502892"/>
            <a:ext cx="468796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Technology Stack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848502" y="2875161"/>
            <a:ext cx="2283462" cy="1107678"/>
          </a:xfrm>
          <a:prstGeom prst="roundRect">
            <a:avLst>
              <a:gd name="adj" fmla="val 573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Text 3"/>
          <p:cNvSpPr/>
          <p:nvPr/>
        </p:nvSpPr>
        <p:spPr>
          <a:xfrm>
            <a:off x="7006058" y="3032720"/>
            <a:ext cx="196835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Backend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006058" y="3389908"/>
            <a:ext cx="1968352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Java • Spring Boot • Spring Data JPA • Hibernate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9252909" y="2875161"/>
            <a:ext cx="2283562" cy="1107678"/>
          </a:xfrm>
          <a:prstGeom prst="roundRect">
            <a:avLst>
              <a:gd name="adj" fmla="val 573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9" name="Text 6"/>
          <p:cNvSpPr/>
          <p:nvPr/>
        </p:nvSpPr>
        <p:spPr>
          <a:xfrm>
            <a:off x="9410465" y="3032720"/>
            <a:ext cx="19684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API Layer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410465" y="3389908"/>
            <a:ext cx="196845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 APIs • Bean Validation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848502" y="4103787"/>
            <a:ext cx="2283462" cy="889992"/>
          </a:xfrm>
          <a:prstGeom prst="roundRect">
            <a:avLst>
              <a:gd name="adj" fmla="val 713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2" name="Text 9"/>
          <p:cNvSpPr/>
          <p:nvPr/>
        </p:nvSpPr>
        <p:spPr>
          <a:xfrm>
            <a:off x="7006058" y="4261346"/>
            <a:ext cx="196835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006058" y="4618534"/>
            <a:ext cx="196835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Relational Database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252909" y="4103787"/>
            <a:ext cx="2283562" cy="889992"/>
          </a:xfrm>
          <a:prstGeom prst="roundRect">
            <a:avLst>
              <a:gd name="adj" fmla="val 713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5" name="Text 12"/>
          <p:cNvSpPr/>
          <p:nvPr/>
        </p:nvSpPr>
        <p:spPr>
          <a:xfrm>
            <a:off x="9410465" y="4261346"/>
            <a:ext cx="19684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Integrations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9410465" y="4618534"/>
            <a:ext cx="196845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Gemini API • Gmail API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4375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Database &amp; Main Entities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179" y="1757065"/>
            <a:ext cx="3946029" cy="39461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75131" y="1423095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Entities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8212" y="1768475"/>
            <a:ext cx="212620" cy="21262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735693" y="1764109"/>
            <a:ext cx="48008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6735693" y="2091829"/>
            <a:ext cx="480087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Client seeking legal assistance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8212" y="2507258"/>
            <a:ext cx="212620" cy="21262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735693" y="2502892"/>
            <a:ext cx="48008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Lawyer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6735693" y="2830612"/>
            <a:ext cx="480087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Legal professional offering consultation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8212" y="3246041"/>
            <a:ext cx="212620" cy="21262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735693" y="3241675"/>
            <a:ext cx="48008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Request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6735693" y="3569395"/>
            <a:ext cx="480087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Consultation request from user to lawyer</a:t>
            </a:r>
            <a:endParaRPr lang="en-US" sz="11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8212" y="3984823"/>
            <a:ext cx="212620" cy="21262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735693" y="3980458"/>
            <a:ext cx="48008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Case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6735693" y="4308177"/>
            <a:ext cx="480087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Active consultation case</a:t>
            </a:r>
            <a:endParaRPr lang="en-US" sz="11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8212" y="4723606"/>
            <a:ext cx="212620" cy="21262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735693" y="4719241"/>
            <a:ext cx="48008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Review</a:t>
            </a:r>
            <a:endParaRPr lang="en-US" sz="1350" dirty="0"/>
          </a:p>
        </p:txBody>
      </p:sp>
      <p:sp>
        <p:nvSpPr>
          <p:cNvPr id="19" name="Text 11"/>
          <p:cNvSpPr/>
          <p:nvPr/>
        </p:nvSpPr>
        <p:spPr>
          <a:xfrm>
            <a:off x="6735693" y="5046960"/>
            <a:ext cx="480087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Client feedback after case completion</a:t>
            </a:r>
            <a:endParaRPr lang="en-US" sz="1100" dirty="0"/>
          </a:p>
        </p:txBody>
      </p:sp>
      <p:sp>
        <p:nvSpPr>
          <p:cNvPr id="20" name="Shape 12"/>
          <p:cNvSpPr/>
          <p:nvPr/>
        </p:nvSpPr>
        <p:spPr>
          <a:xfrm>
            <a:off x="6275131" y="5364956"/>
            <a:ext cx="5261439" cy="659011"/>
          </a:xfrm>
          <a:prstGeom prst="roundRect">
            <a:avLst>
              <a:gd name="adj" fmla="val 9035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6812" y="5528667"/>
            <a:ext cx="177200" cy="14168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735693" y="5496024"/>
            <a:ext cx="465919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User → Request → Case → Review</a:t>
            </a:r>
            <a:endParaRPr lang="en-US" sz="11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Lawyer → Request → Case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63588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JUSTICE: Making Legal Assistance Simpler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233360" y="2209502"/>
            <a:ext cx="294096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Journey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5233360" y="2647454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" name="Text 4"/>
          <p:cNvSpPr/>
          <p:nvPr/>
        </p:nvSpPr>
        <p:spPr>
          <a:xfrm>
            <a:off x="5769128" y="2705894"/>
            <a:ext cx="240520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769128" y="3124696"/>
            <a:ext cx="240520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Finding the right lawyer can be difficult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233360" y="3948013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0" name="Text 7"/>
          <p:cNvSpPr/>
          <p:nvPr/>
        </p:nvSpPr>
        <p:spPr>
          <a:xfrm>
            <a:off x="5769128" y="4006453"/>
            <a:ext cx="240520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Solution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5769128" y="4425255"/>
            <a:ext cx="240520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digital platform connecting clients with suitable lawyers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595601" y="2209502"/>
            <a:ext cx="294096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Features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595601" y="2628305"/>
            <a:ext cx="2940969" cy="202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Lawyer search by specialty, city, and price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Consultation requests and case management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Secure communication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Client reviews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AI-assisted specialty identification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595601" y="4824809"/>
            <a:ext cx="1066178" cy="258465"/>
          </a:xfrm>
          <a:prstGeom prst="roundRect">
            <a:avLst>
              <a:gd name="adj" fmla="val 22115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5" name="Text 12"/>
          <p:cNvSpPr/>
          <p:nvPr/>
        </p:nvSpPr>
        <p:spPr>
          <a:xfrm>
            <a:off x="8697596" y="4875808"/>
            <a:ext cx="1471774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SPRING BOOT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746808" y="4824809"/>
            <a:ext cx="769720" cy="258465"/>
          </a:xfrm>
          <a:prstGeom prst="roundRect">
            <a:avLst>
              <a:gd name="adj" fmla="val 22115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7" name="Text 14"/>
          <p:cNvSpPr/>
          <p:nvPr/>
        </p:nvSpPr>
        <p:spPr>
          <a:xfrm>
            <a:off x="9848802" y="4875808"/>
            <a:ext cx="1175316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 API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0601556" y="4824809"/>
            <a:ext cx="909119" cy="258465"/>
          </a:xfrm>
          <a:prstGeom prst="roundRect">
            <a:avLst>
              <a:gd name="adj" fmla="val 22115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9" name="Text 16"/>
          <p:cNvSpPr/>
          <p:nvPr/>
        </p:nvSpPr>
        <p:spPr>
          <a:xfrm>
            <a:off x="10703550" y="4875808"/>
            <a:ext cx="1314715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GEMINI API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595601" y="5168305"/>
            <a:ext cx="860900" cy="258465"/>
          </a:xfrm>
          <a:prstGeom prst="roundRect">
            <a:avLst>
              <a:gd name="adj" fmla="val 22115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1" name="Text 18"/>
          <p:cNvSpPr/>
          <p:nvPr/>
        </p:nvSpPr>
        <p:spPr>
          <a:xfrm>
            <a:off x="8697596" y="5219303"/>
            <a:ext cx="1266496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GMAIL API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233360" y="5828605"/>
            <a:ext cx="629686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Thank You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618</Words>
  <Application>Microsoft Macintosh PowerPoint</Application>
  <PresentationFormat>Widescreen</PresentationFormat>
  <Paragraphs>133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Roboto</vt:lpstr>
      <vt:lpstr>Arial</vt:lpstr>
      <vt:lpstr>Raleway</vt:lpstr>
      <vt:lpstr>Roboto Bold</vt:lpstr>
      <vt:lpstr>Noto Color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FAISAL ABDULRAHMAN SALEM BAGEIS</cp:lastModifiedBy>
  <cp:revision>2</cp:revision>
  <dcterms:created xsi:type="dcterms:W3CDTF">2026-09-27T20:09:14Z</dcterms:created>
  <dcterms:modified xsi:type="dcterms:W3CDTF">2026-09-27T20:22:20Z</dcterms:modified>
</cp:coreProperties>
</file>